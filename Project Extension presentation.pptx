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aleway"/>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5" Type="http://schemas.openxmlformats.org/officeDocument/2006/relationships/notesMaster" Target="notesMasters/notesMaster1.xml"/><Relationship Id="rId19" Type="http://schemas.openxmlformats.org/officeDocument/2006/relationships/font" Target="fonts/Lato-bold.fntdata"/><Relationship Id="rId6" Type="http://schemas.openxmlformats.org/officeDocument/2006/relationships/slide" Target="slides/slide1.xml"/><Relationship Id="rId18"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b9a0b07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b9a0b0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d5b15f0a3_5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d5b15f0a3_5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723630543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723630543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c5d0eaff9a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c5d0eaff9a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c5d0eaff9a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c5d0eaff9a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c5d0eaff9a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c5d0eaff9a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c5d0eaff9a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c5d0eaff9a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c5d0eaff9a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c5d0eaff9a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353535"/>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71" name="Shape 71"/>
        <p:cNvGrpSpPr/>
        <p:nvPr/>
      </p:nvGrpSpPr>
      <p:grpSpPr>
        <a:xfrm>
          <a:off x="0" y="0"/>
          <a:ext cx="0" cy="0"/>
          <a:chOff x="0" y="0"/>
          <a:chExt cx="0" cy="0"/>
        </a:xfrm>
      </p:grpSpPr>
      <p:sp>
        <p:nvSpPr>
          <p:cNvPr id="72" name="Google Shape;72;p13"/>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Extension</a:t>
            </a:r>
            <a:endParaRPr/>
          </a:p>
        </p:txBody>
      </p:sp>
      <p:sp>
        <p:nvSpPr>
          <p:cNvPr id="73" name="Google Shape;73;p13"/>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100"/>
              <a:t>Robotic Prosthetics Special Topic and Studio Project</a:t>
            </a:r>
            <a:endParaRPr b="1" sz="2100"/>
          </a:p>
        </p:txBody>
      </p:sp>
      <p:pic>
        <p:nvPicPr>
          <p:cNvPr id="74" name="Google Shape;74;p13"/>
          <p:cNvPicPr preferRelativeResize="0"/>
          <p:nvPr/>
        </p:nvPicPr>
        <p:blipFill>
          <a:blip r:embed="rId3">
            <a:alphaModFix/>
          </a:blip>
          <a:stretch>
            <a:fillRect/>
          </a:stretch>
        </p:blipFill>
        <p:spPr>
          <a:xfrm rot="-434099">
            <a:off x="4316882" y="1255124"/>
            <a:ext cx="5429181" cy="2285956"/>
          </a:xfrm>
          <a:prstGeom prst="rect">
            <a:avLst/>
          </a:prstGeom>
          <a:noFill/>
          <a:ln>
            <a:noFill/>
          </a:ln>
        </p:spPr>
      </p:pic>
      <p:pic>
        <p:nvPicPr>
          <p:cNvPr id="75" name="Google Shape;75;p13"/>
          <p:cNvPicPr preferRelativeResize="0"/>
          <p:nvPr/>
        </p:nvPicPr>
        <p:blipFill>
          <a:blip r:embed="rId3">
            <a:alphaModFix/>
          </a:blip>
          <a:stretch>
            <a:fillRect/>
          </a:stretch>
        </p:blipFill>
        <p:spPr>
          <a:xfrm flipH="1" rot="-783052">
            <a:off x="-217000" y="2373277"/>
            <a:ext cx="4491302" cy="1891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79" name="Shape 79"/>
        <p:cNvGrpSpPr/>
        <p:nvPr/>
      </p:nvGrpSpPr>
      <p:grpSpPr>
        <a:xfrm>
          <a:off x="0" y="0"/>
          <a:ext cx="0" cy="0"/>
          <a:chOff x="0" y="0"/>
          <a:chExt cx="0" cy="0"/>
        </a:xfrm>
      </p:grpSpPr>
      <p:sp>
        <p:nvSpPr>
          <p:cNvPr id="80" name="Google Shape;80;p14"/>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lt1"/>
                </a:solidFill>
              </a:rPr>
              <a:t>Project Summary</a:t>
            </a:r>
            <a:endParaRPr sz="2400">
              <a:solidFill>
                <a:schemeClr val="lt1"/>
              </a:solidFill>
            </a:endParaRPr>
          </a:p>
        </p:txBody>
      </p:sp>
      <p:sp>
        <p:nvSpPr>
          <p:cNvPr id="81" name="Google Shape;81;p14"/>
          <p:cNvSpPr txBox="1"/>
          <p:nvPr>
            <p:ph idx="4294967295" type="title"/>
          </p:nvPr>
        </p:nvSpPr>
        <p:spPr>
          <a:xfrm>
            <a:off x="535775" y="1480150"/>
            <a:ext cx="5197200" cy="3067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0" lang="en" sz="1800">
                <a:solidFill>
                  <a:schemeClr val="lt1"/>
                </a:solidFill>
                <a:latin typeface="Lato"/>
                <a:ea typeface="Lato"/>
                <a:cs typeface="Lato"/>
                <a:sym typeface="Lato"/>
              </a:rPr>
              <a:t>Project Extension is my super well named project that aims to create a cost-effective and </a:t>
            </a:r>
            <a:r>
              <a:rPr b="0" lang="en" sz="1800">
                <a:solidFill>
                  <a:schemeClr val="lt1"/>
                </a:solidFill>
                <a:latin typeface="Lato"/>
                <a:ea typeface="Lato"/>
                <a:cs typeface="Lato"/>
                <a:sym typeface="Lato"/>
              </a:rPr>
              <a:t>accessible</a:t>
            </a:r>
            <a:r>
              <a:rPr b="0" lang="en" sz="1800">
                <a:solidFill>
                  <a:schemeClr val="lt1"/>
                </a:solidFill>
                <a:latin typeface="Lato"/>
                <a:ea typeface="Lato"/>
                <a:cs typeface="Lato"/>
                <a:sym typeface="Lato"/>
              </a:rPr>
              <a:t> robotic prosthetics for those who need them.</a:t>
            </a:r>
            <a:endParaRPr b="0" sz="1800">
              <a:solidFill>
                <a:schemeClr val="lt1"/>
              </a:solidFill>
              <a:latin typeface="Lato"/>
              <a:ea typeface="Lato"/>
              <a:cs typeface="Lato"/>
              <a:sym typeface="Lato"/>
            </a:endParaRPr>
          </a:p>
        </p:txBody>
      </p:sp>
      <p:pic>
        <p:nvPicPr>
          <p:cNvPr id="82" name="Google Shape;82;p14"/>
          <p:cNvPicPr preferRelativeResize="0"/>
          <p:nvPr/>
        </p:nvPicPr>
        <p:blipFill>
          <a:blip r:embed="rId3">
            <a:alphaModFix/>
          </a:blip>
          <a:stretch>
            <a:fillRect/>
          </a:stretch>
        </p:blipFill>
        <p:spPr>
          <a:xfrm flipH="1">
            <a:off x="5193725" y="2253051"/>
            <a:ext cx="3950275" cy="2890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86" name="Shape 86"/>
        <p:cNvGrpSpPr/>
        <p:nvPr/>
      </p:nvGrpSpPr>
      <p:grpSpPr>
        <a:xfrm>
          <a:off x="0" y="0"/>
          <a:ext cx="0" cy="0"/>
          <a:chOff x="0" y="0"/>
          <a:chExt cx="0" cy="0"/>
        </a:xfrm>
      </p:grpSpPr>
      <p:pic>
        <p:nvPicPr>
          <p:cNvPr id="87" name="Google Shape;87;p15"/>
          <p:cNvPicPr preferRelativeResize="0"/>
          <p:nvPr/>
        </p:nvPicPr>
        <p:blipFill>
          <a:blip r:embed="rId3">
            <a:alphaModFix/>
          </a:blip>
          <a:stretch>
            <a:fillRect/>
          </a:stretch>
        </p:blipFill>
        <p:spPr>
          <a:xfrm>
            <a:off x="2444700" y="162737"/>
            <a:ext cx="4254600" cy="4818038"/>
          </a:xfrm>
          <a:prstGeom prst="rect">
            <a:avLst/>
          </a:prstGeom>
          <a:noFill/>
          <a:ln>
            <a:noFill/>
          </a:ln>
        </p:spPr>
      </p:pic>
      <p:pic>
        <p:nvPicPr>
          <p:cNvPr descr="Piece of duct tape sticking a note to the slide" id="88" name="Google Shape;88;p15"/>
          <p:cNvPicPr preferRelativeResize="0"/>
          <p:nvPr/>
        </p:nvPicPr>
        <p:blipFill rotWithShape="1">
          <a:blip r:embed="rId4">
            <a:alphaModFix/>
          </a:blip>
          <a:srcRect b="10012" l="9245" r="2118" t="5926"/>
          <a:stretch/>
        </p:blipFill>
        <p:spPr>
          <a:xfrm rot="154828">
            <a:off x="3536000" y="147301"/>
            <a:ext cx="2072000" cy="736050"/>
          </a:xfrm>
          <a:prstGeom prst="rect">
            <a:avLst/>
          </a:prstGeom>
          <a:noFill/>
          <a:ln>
            <a:noFill/>
          </a:ln>
        </p:spPr>
      </p:pic>
      <p:sp>
        <p:nvSpPr>
          <p:cNvPr id="89" name="Google Shape;89;p15"/>
          <p:cNvSpPr txBox="1"/>
          <p:nvPr/>
        </p:nvSpPr>
        <p:spPr>
          <a:xfrm>
            <a:off x="2855550" y="687397"/>
            <a:ext cx="34329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2700">
                <a:solidFill>
                  <a:schemeClr val="lt2"/>
                </a:solidFill>
                <a:latin typeface="Raleway"/>
                <a:ea typeface="Raleway"/>
                <a:cs typeface="Raleway"/>
                <a:sym typeface="Raleway"/>
              </a:rPr>
              <a:t>1. Broad Objectives</a:t>
            </a:r>
            <a:endParaRPr b="1" sz="2700">
              <a:solidFill>
                <a:schemeClr val="lt2"/>
              </a:solidFill>
              <a:latin typeface="Raleway"/>
              <a:ea typeface="Raleway"/>
              <a:cs typeface="Raleway"/>
              <a:sym typeface="Raleway"/>
            </a:endParaRPr>
          </a:p>
        </p:txBody>
      </p:sp>
      <p:sp>
        <p:nvSpPr>
          <p:cNvPr id="90" name="Google Shape;90;p15"/>
          <p:cNvSpPr txBox="1"/>
          <p:nvPr>
            <p:ph idx="4294967295" type="body"/>
          </p:nvPr>
        </p:nvSpPr>
        <p:spPr>
          <a:xfrm>
            <a:off x="2855550" y="1377480"/>
            <a:ext cx="34329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Raleway"/>
                <a:ea typeface="Raleway"/>
                <a:cs typeface="Raleway"/>
                <a:sym typeface="Raleway"/>
              </a:rPr>
              <a:t>Choose one approach</a:t>
            </a:r>
            <a:r>
              <a:rPr lang="en" sz="1200">
                <a:latin typeface="Raleway"/>
                <a:ea typeface="Raleway"/>
                <a:cs typeface="Raleway"/>
                <a:sym typeface="Raleway"/>
              </a:rPr>
              <a:t> to grab the audience’s attention right from the start: </a:t>
            </a:r>
            <a:r>
              <a:rPr lang="en" sz="1200">
                <a:solidFill>
                  <a:schemeClr val="dk2"/>
                </a:solidFill>
                <a:latin typeface="Raleway"/>
                <a:ea typeface="Raleway"/>
                <a:cs typeface="Raleway"/>
                <a:sym typeface="Raleway"/>
              </a:rPr>
              <a:t>unexpected, emotional, or simple.</a:t>
            </a:r>
            <a:endParaRPr sz="1200">
              <a:solidFill>
                <a:schemeClr val="dk2"/>
              </a:solidFill>
              <a:latin typeface="Raleway"/>
              <a:ea typeface="Raleway"/>
              <a:cs typeface="Raleway"/>
              <a:sym typeface="Raleway"/>
            </a:endParaRPr>
          </a:p>
          <a:p>
            <a:pPr indent="-317500" lvl="0" marL="457200" rtl="0" algn="l">
              <a:spcBef>
                <a:spcPts val="1600"/>
              </a:spcBef>
              <a:spcAft>
                <a:spcPts val="0"/>
              </a:spcAft>
              <a:buClr>
                <a:schemeClr val="accent2"/>
              </a:buClr>
              <a:buSzPts val="1400"/>
              <a:buFont typeface="Raleway"/>
              <a:buChar char="➔"/>
            </a:pPr>
            <a:r>
              <a:rPr b="1" lang="en" sz="1400">
                <a:solidFill>
                  <a:schemeClr val="accent2"/>
                </a:solidFill>
                <a:latin typeface="Raleway"/>
                <a:ea typeface="Raleway"/>
                <a:cs typeface="Raleway"/>
                <a:sym typeface="Raleway"/>
              </a:rPr>
              <a:t>Stock Standard</a:t>
            </a:r>
            <a:br>
              <a:rPr lang="en" sz="1400">
                <a:latin typeface="Raleway"/>
                <a:ea typeface="Raleway"/>
                <a:cs typeface="Raleway"/>
                <a:sym typeface="Raleway"/>
              </a:rPr>
            </a:br>
            <a:r>
              <a:rPr lang="en" sz="1200">
                <a:latin typeface="Raleway"/>
                <a:ea typeface="Raleway"/>
                <a:cs typeface="Raleway"/>
                <a:sym typeface="Raleway"/>
              </a:rPr>
              <a:t>Parts used must be able to be purchased from normal retailers</a:t>
            </a:r>
            <a:endParaRPr sz="1200">
              <a:latin typeface="Raleway"/>
              <a:ea typeface="Raleway"/>
              <a:cs typeface="Raleway"/>
              <a:sym typeface="Raleway"/>
            </a:endParaRPr>
          </a:p>
          <a:p>
            <a:pPr indent="-317500" lvl="0" marL="457200" rtl="0" algn="l">
              <a:spcBef>
                <a:spcPts val="1000"/>
              </a:spcBef>
              <a:spcAft>
                <a:spcPts val="0"/>
              </a:spcAft>
              <a:buClr>
                <a:schemeClr val="accent2"/>
              </a:buClr>
              <a:buSzPts val="1400"/>
              <a:buFont typeface="Raleway"/>
              <a:buChar char="➔"/>
            </a:pPr>
            <a:r>
              <a:rPr b="1" lang="en" sz="1400">
                <a:solidFill>
                  <a:schemeClr val="accent2"/>
                </a:solidFill>
                <a:latin typeface="Raleway"/>
                <a:ea typeface="Raleway"/>
                <a:cs typeface="Raleway"/>
                <a:sym typeface="Raleway"/>
              </a:rPr>
              <a:t>Affordable</a:t>
            </a:r>
            <a:br>
              <a:rPr lang="en" sz="1400">
                <a:latin typeface="Raleway"/>
                <a:ea typeface="Raleway"/>
                <a:cs typeface="Raleway"/>
                <a:sym typeface="Raleway"/>
              </a:rPr>
            </a:br>
            <a:r>
              <a:rPr lang="en" sz="1200">
                <a:latin typeface="Raleway"/>
                <a:ea typeface="Raleway"/>
                <a:cs typeface="Raleway"/>
                <a:sym typeface="Raleway"/>
              </a:rPr>
              <a:t>Keep costs low so that if parts need repair most people can get them</a:t>
            </a:r>
            <a:endParaRPr sz="1200">
              <a:latin typeface="Raleway"/>
              <a:ea typeface="Raleway"/>
              <a:cs typeface="Raleway"/>
              <a:sym typeface="Raleway"/>
            </a:endParaRPr>
          </a:p>
          <a:p>
            <a:pPr indent="-317500" lvl="0" marL="457200" rtl="0" algn="l">
              <a:spcBef>
                <a:spcPts val="1000"/>
              </a:spcBef>
              <a:spcAft>
                <a:spcPts val="1000"/>
              </a:spcAft>
              <a:buClr>
                <a:schemeClr val="accent2"/>
              </a:buClr>
              <a:buSzPts val="1400"/>
              <a:buFont typeface="Raleway"/>
              <a:buChar char="➔"/>
            </a:pPr>
            <a:r>
              <a:rPr b="1" lang="en" sz="1400">
                <a:solidFill>
                  <a:schemeClr val="accent2"/>
                </a:solidFill>
                <a:latin typeface="Raleway"/>
                <a:ea typeface="Raleway"/>
                <a:cs typeface="Raleway"/>
                <a:sym typeface="Raleway"/>
              </a:rPr>
              <a:t>Function</a:t>
            </a:r>
            <a:br>
              <a:rPr lang="en" sz="1400">
                <a:latin typeface="Raleway"/>
                <a:ea typeface="Raleway"/>
                <a:cs typeface="Raleway"/>
                <a:sym typeface="Raleway"/>
              </a:rPr>
            </a:br>
            <a:r>
              <a:rPr lang="en" sz="1200">
                <a:latin typeface="Raleway"/>
                <a:ea typeface="Raleway"/>
                <a:cs typeface="Raleway"/>
                <a:sym typeface="Raleway"/>
              </a:rPr>
              <a:t>Make sure it actually works</a:t>
            </a:r>
            <a:endParaRPr sz="1200">
              <a:solidFill>
                <a:schemeClr val="dk2"/>
              </a:solidFill>
              <a:latin typeface="Raleway"/>
              <a:ea typeface="Raleway"/>
              <a:cs typeface="Raleway"/>
              <a:sym typeface="Ralewa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94" name="Shape 94"/>
        <p:cNvGrpSpPr/>
        <p:nvPr/>
      </p:nvGrpSpPr>
      <p:grpSpPr>
        <a:xfrm>
          <a:off x="0" y="0"/>
          <a:ext cx="0" cy="0"/>
          <a:chOff x="0" y="0"/>
          <a:chExt cx="0" cy="0"/>
        </a:xfrm>
      </p:grpSpPr>
      <p:sp>
        <p:nvSpPr>
          <p:cNvPr id="95" name="Google Shape;95;p16"/>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Anatomy of the Arm</a:t>
            </a:r>
            <a:endParaRPr/>
          </a:p>
        </p:txBody>
      </p:sp>
      <p:sp>
        <p:nvSpPr>
          <p:cNvPr id="96" name="Google Shape;96;p16"/>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100"/>
              <a:t>A ‘Lecture’ I guess</a:t>
            </a:r>
            <a:endParaRPr b="1" sz="2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00" name="Shape 100"/>
        <p:cNvGrpSpPr/>
        <p:nvPr/>
      </p:nvGrpSpPr>
      <p:grpSpPr>
        <a:xfrm>
          <a:off x="0" y="0"/>
          <a:ext cx="0" cy="0"/>
          <a:chOff x="0" y="0"/>
          <a:chExt cx="0" cy="0"/>
        </a:xfrm>
      </p:grpSpPr>
      <p:sp>
        <p:nvSpPr>
          <p:cNvPr id="101" name="Google Shape;101;p17"/>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lt1"/>
                </a:solidFill>
              </a:rPr>
              <a:t>Tricep</a:t>
            </a:r>
            <a:endParaRPr sz="2400">
              <a:solidFill>
                <a:schemeClr val="lt1"/>
              </a:solidFill>
            </a:endParaRPr>
          </a:p>
        </p:txBody>
      </p:sp>
      <p:sp>
        <p:nvSpPr>
          <p:cNvPr id="102" name="Google Shape;102;p17"/>
          <p:cNvSpPr txBox="1"/>
          <p:nvPr>
            <p:ph idx="4294967295" type="title"/>
          </p:nvPr>
        </p:nvSpPr>
        <p:spPr>
          <a:xfrm>
            <a:off x="535775" y="1480150"/>
            <a:ext cx="5197200" cy="3067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0" lang="en" sz="1800">
                <a:solidFill>
                  <a:schemeClr val="lt1"/>
                </a:solidFill>
                <a:latin typeface="Lato"/>
                <a:ea typeface="Lato"/>
                <a:cs typeface="Lato"/>
                <a:sym typeface="Lato"/>
              </a:rPr>
              <a:t>The tricep is the largest muscle group on the arm and </a:t>
            </a:r>
            <a:r>
              <a:rPr b="0" lang="en" sz="1800">
                <a:solidFill>
                  <a:schemeClr val="lt1"/>
                </a:solidFill>
                <a:latin typeface="Lato"/>
                <a:ea typeface="Lato"/>
                <a:cs typeface="Lato"/>
                <a:sym typeface="Lato"/>
              </a:rPr>
              <a:t>controls</a:t>
            </a:r>
            <a:r>
              <a:rPr b="0" lang="en" sz="1800">
                <a:solidFill>
                  <a:schemeClr val="lt1"/>
                </a:solidFill>
                <a:latin typeface="Lato"/>
                <a:ea typeface="Lato"/>
                <a:cs typeface="Lato"/>
                <a:sym typeface="Lato"/>
              </a:rPr>
              <a:t> the straightening of the arm. There are 3 heads of the tricep, hence the name. We will only be focussing on two in order to decide which one gives us the best data.</a:t>
            </a:r>
            <a:endParaRPr b="0" sz="1800">
              <a:solidFill>
                <a:schemeClr val="lt1"/>
              </a:solidFill>
              <a:latin typeface="Lato"/>
              <a:ea typeface="Lato"/>
              <a:cs typeface="Lato"/>
              <a:sym typeface="Lato"/>
            </a:endParaRPr>
          </a:p>
        </p:txBody>
      </p:sp>
      <p:pic>
        <p:nvPicPr>
          <p:cNvPr id="103" name="Google Shape;103;p17"/>
          <p:cNvPicPr preferRelativeResize="0"/>
          <p:nvPr/>
        </p:nvPicPr>
        <p:blipFill>
          <a:blip r:embed="rId3">
            <a:alphaModFix/>
          </a:blip>
          <a:stretch>
            <a:fillRect/>
          </a:stretch>
        </p:blipFill>
        <p:spPr>
          <a:xfrm>
            <a:off x="5892800" y="1024375"/>
            <a:ext cx="3106225" cy="309474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07" name="Shape 107"/>
        <p:cNvGrpSpPr/>
        <p:nvPr/>
      </p:nvGrpSpPr>
      <p:grpSpPr>
        <a:xfrm>
          <a:off x="0" y="0"/>
          <a:ext cx="0" cy="0"/>
          <a:chOff x="0" y="0"/>
          <a:chExt cx="0" cy="0"/>
        </a:xfrm>
      </p:grpSpPr>
      <p:sp>
        <p:nvSpPr>
          <p:cNvPr id="108" name="Google Shape;108;p18"/>
          <p:cNvSpPr txBox="1"/>
          <p:nvPr>
            <p:ph idx="4294967295" type="title"/>
          </p:nvPr>
        </p:nvSpPr>
        <p:spPr>
          <a:xfrm>
            <a:off x="3801825" y="689925"/>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lt1"/>
                </a:solidFill>
              </a:rPr>
              <a:t>Bicep</a:t>
            </a:r>
            <a:endParaRPr sz="2400">
              <a:solidFill>
                <a:schemeClr val="lt1"/>
              </a:solidFill>
            </a:endParaRPr>
          </a:p>
        </p:txBody>
      </p:sp>
      <p:sp>
        <p:nvSpPr>
          <p:cNvPr id="109" name="Google Shape;109;p18"/>
          <p:cNvSpPr txBox="1"/>
          <p:nvPr>
            <p:ph idx="4294967295" type="title"/>
          </p:nvPr>
        </p:nvSpPr>
        <p:spPr>
          <a:xfrm>
            <a:off x="3801825" y="1457925"/>
            <a:ext cx="5197200" cy="3067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0" lang="en" sz="1800">
                <a:solidFill>
                  <a:schemeClr val="lt1"/>
                </a:solidFill>
                <a:latin typeface="Lato"/>
                <a:ea typeface="Lato"/>
                <a:cs typeface="Lato"/>
                <a:sym typeface="Lato"/>
              </a:rPr>
              <a:t>The bicep controls the bending of the arm, and is the muscle that we will </a:t>
            </a:r>
            <a:r>
              <a:rPr b="0" lang="en" sz="1800">
                <a:solidFill>
                  <a:schemeClr val="lt1"/>
                </a:solidFill>
                <a:latin typeface="Lato"/>
                <a:ea typeface="Lato"/>
                <a:cs typeface="Lato"/>
                <a:sym typeface="Lato"/>
              </a:rPr>
              <a:t>probably</a:t>
            </a:r>
            <a:r>
              <a:rPr b="0" lang="en" sz="1800">
                <a:solidFill>
                  <a:schemeClr val="lt1"/>
                </a:solidFill>
                <a:latin typeface="Lato"/>
                <a:ea typeface="Lato"/>
                <a:cs typeface="Lato"/>
                <a:sym typeface="Lato"/>
              </a:rPr>
              <a:t> need to work on the most due to the number of electrical signals going through that area.</a:t>
            </a:r>
            <a:endParaRPr b="0" sz="1800">
              <a:solidFill>
                <a:schemeClr val="lt1"/>
              </a:solidFill>
              <a:latin typeface="Lato"/>
              <a:ea typeface="Lato"/>
              <a:cs typeface="Lato"/>
              <a:sym typeface="Lato"/>
            </a:endParaRPr>
          </a:p>
          <a:p>
            <a:pPr indent="0" lvl="0" marL="0" rtl="0" algn="l">
              <a:lnSpc>
                <a:spcPct val="115000"/>
              </a:lnSpc>
              <a:spcBef>
                <a:spcPts val="1600"/>
              </a:spcBef>
              <a:spcAft>
                <a:spcPts val="1600"/>
              </a:spcAft>
              <a:buNone/>
            </a:pPr>
            <a:r>
              <a:rPr b="0" lang="en" sz="1800">
                <a:solidFill>
                  <a:schemeClr val="lt1"/>
                </a:solidFill>
                <a:latin typeface="Lato"/>
                <a:ea typeface="Lato"/>
                <a:cs typeface="Lato"/>
                <a:sym typeface="Lato"/>
              </a:rPr>
              <a:t>To add to this a lot of above the elbow amputations cause muscle attachment of the bicep to the elbow to be severed.</a:t>
            </a:r>
            <a:endParaRPr b="0" sz="1800">
              <a:solidFill>
                <a:schemeClr val="lt1"/>
              </a:solidFill>
              <a:latin typeface="Lato"/>
              <a:ea typeface="Lato"/>
              <a:cs typeface="Lato"/>
              <a:sym typeface="Lato"/>
            </a:endParaRPr>
          </a:p>
        </p:txBody>
      </p:sp>
      <p:pic>
        <p:nvPicPr>
          <p:cNvPr id="110" name="Google Shape;110;p18"/>
          <p:cNvPicPr preferRelativeResize="0"/>
          <p:nvPr/>
        </p:nvPicPr>
        <p:blipFill>
          <a:blip r:embed="rId3">
            <a:alphaModFix/>
          </a:blip>
          <a:stretch>
            <a:fillRect/>
          </a:stretch>
        </p:blipFill>
        <p:spPr>
          <a:xfrm>
            <a:off x="137575" y="1495950"/>
            <a:ext cx="3041900" cy="2151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14" name="Shape 114"/>
        <p:cNvGrpSpPr/>
        <p:nvPr/>
      </p:nvGrpSpPr>
      <p:grpSpPr>
        <a:xfrm>
          <a:off x="0" y="0"/>
          <a:ext cx="0" cy="0"/>
          <a:chOff x="0" y="0"/>
          <a:chExt cx="0" cy="0"/>
        </a:xfrm>
      </p:grpSpPr>
      <p:sp>
        <p:nvSpPr>
          <p:cNvPr id="115" name="Google Shape;115;p19"/>
          <p:cNvSpPr txBox="1"/>
          <p:nvPr>
            <p:ph idx="4294967295" type="title"/>
          </p:nvPr>
        </p:nvSpPr>
        <p:spPr>
          <a:xfrm>
            <a:off x="3801825" y="689925"/>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lt1"/>
                </a:solidFill>
              </a:rPr>
              <a:t>Median Nerve</a:t>
            </a:r>
            <a:endParaRPr sz="2400">
              <a:solidFill>
                <a:schemeClr val="lt1"/>
              </a:solidFill>
            </a:endParaRPr>
          </a:p>
        </p:txBody>
      </p:sp>
      <p:sp>
        <p:nvSpPr>
          <p:cNvPr id="116" name="Google Shape;116;p19"/>
          <p:cNvSpPr txBox="1"/>
          <p:nvPr>
            <p:ph idx="4294967295" type="title"/>
          </p:nvPr>
        </p:nvSpPr>
        <p:spPr>
          <a:xfrm>
            <a:off x="3801825" y="1457925"/>
            <a:ext cx="5197200" cy="3067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0" lang="en" sz="1800">
                <a:solidFill>
                  <a:schemeClr val="lt1"/>
                </a:solidFill>
                <a:latin typeface="Lato"/>
                <a:ea typeface="Lato"/>
                <a:cs typeface="Lato"/>
                <a:sym typeface="Lato"/>
              </a:rPr>
              <a:t>The Median nerve is one of the 2 major nerves that generate the vast majority of motor functions in the arm (especially the lower arm). In our case we will be focussing on the flexing of the wrist, as well as use of the thumb and the two closest fingers to it.</a:t>
            </a:r>
            <a:endParaRPr b="0" sz="1800">
              <a:solidFill>
                <a:schemeClr val="lt1"/>
              </a:solidFill>
              <a:latin typeface="Lato"/>
              <a:ea typeface="Lato"/>
              <a:cs typeface="Lato"/>
              <a:sym typeface="Lato"/>
            </a:endParaRPr>
          </a:p>
        </p:txBody>
      </p:sp>
      <p:pic>
        <p:nvPicPr>
          <p:cNvPr id="117" name="Google Shape;117;p19"/>
          <p:cNvPicPr preferRelativeResize="0"/>
          <p:nvPr/>
        </p:nvPicPr>
        <p:blipFill>
          <a:blip r:embed="rId3">
            <a:alphaModFix/>
          </a:blip>
          <a:stretch>
            <a:fillRect/>
          </a:stretch>
        </p:blipFill>
        <p:spPr>
          <a:xfrm>
            <a:off x="1004700" y="769163"/>
            <a:ext cx="1883050" cy="36051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21" name="Shape 121"/>
        <p:cNvGrpSpPr/>
        <p:nvPr/>
      </p:nvGrpSpPr>
      <p:grpSpPr>
        <a:xfrm>
          <a:off x="0" y="0"/>
          <a:ext cx="0" cy="0"/>
          <a:chOff x="0" y="0"/>
          <a:chExt cx="0" cy="0"/>
        </a:xfrm>
      </p:grpSpPr>
      <p:sp>
        <p:nvSpPr>
          <p:cNvPr id="122" name="Google Shape;122;p20"/>
          <p:cNvSpPr txBox="1"/>
          <p:nvPr>
            <p:ph idx="4294967295" type="title"/>
          </p:nvPr>
        </p:nvSpPr>
        <p:spPr>
          <a:xfrm>
            <a:off x="555625" y="65400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chemeClr val="lt1"/>
                </a:solidFill>
              </a:rPr>
              <a:t>Radial</a:t>
            </a:r>
            <a:r>
              <a:rPr lang="en" sz="3600">
                <a:solidFill>
                  <a:schemeClr val="lt1"/>
                </a:solidFill>
              </a:rPr>
              <a:t> Nerve</a:t>
            </a:r>
            <a:endParaRPr sz="2400">
              <a:solidFill>
                <a:schemeClr val="lt1"/>
              </a:solidFill>
            </a:endParaRPr>
          </a:p>
        </p:txBody>
      </p:sp>
      <p:sp>
        <p:nvSpPr>
          <p:cNvPr id="123" name="Google Shape;123;p20"/>
          <p:cNvSpPr txBox="1"/>
          <p:nvPr>
            <p:ph idx="4294967295" type="title"/>
          </p:nvPr>
        </p:nvSpPr>
        <p:spPr>
          <a:xfrm>
            <a:off x="555625" y="1422000"/>
            <a:ext cx="5197200" cy="3067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0" lang="en" sz="1800">
                <a:solidFill>
                  <a:schemeClr val="lt1"/>
                </a:solidFill>
                <a:latin typeface="Lato"/>
                <a:ea typeface="Lato"/>
                <a:cs typeface="Lato"/>
                <a:sym typeface="Lato"/>
              </a:rPr>
              <a:t>Also known as the ‘funny bone’, controls the other half of the hand, as well as dorsiflexion of the wrist.</a:t>
            </a:r>
            <a:endParaRPr b="0" sz="1800">
              <a:solidFill>
                <a:schemeClr val="lt1"/>
              </a:solidFill>
              <a:latin typeface="Lato"/>
              <a:ea typeface="Lato"/>
              <a:cs typeface="Lato"/>
              <a:sym typeface="Lato"/>
            </a:endParaRPr>
          </a:p>
        </p:txBody>
      </p:sp>
      <p:pic>
        <p:nvPicPr>
          <p:cNvPr id="124" name="Google Shape;124;p20"/>
          <p:cNvPicPr preferRelativeResize="0"/>
          <p:nvPr/>
        </p:nvPicPr>
        <p:blipFill>
          <a:blip r:embed="rId3">
            <a:alphaModFix/>
          </a:blip>
          <a:stretch>
            <a:fillRect/>
          </a:stretch>
        </p:blipFill>
        <p:spPr>
          <a:xfrm>
            <a:off x="5905225" y="924975"/>
            <a:ext cx="3086375" cy="3293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